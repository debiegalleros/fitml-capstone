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2"/>
  </p:normalViewPr>
  <p:slideViewPr>
    <p:cSldViewPr snapToGrid="0" snapToObjects="1">
      <p:cViewPr varScale="1">
        <p:scale>
          <a:sx n="119" d="100"/>
          <a:sy n="119" d="100"/>
        </p:scale>
        <p:origin x="5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IM_logo_2017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1249271" cy="8961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103120"/>
            <a:ext cx="999439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3000" b="1" i="0" dirty="0" err="1">
                <a:solidFill>
                  <a:srgbClr val="1A1A1A"/>
                </a:solidFill>
                <a:latin typeface="Arial"/>
              </a:rPr>
              <a:t>FitML: A Fairness-Audited Machine Learning System for Sizing and Intelligent Virtual Try-On in E-Commerce</a:t>
            </a:r>
            <a:r>
              <a:rPr sz="3000" b="1" i="0" dirty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39312"/>
            <a:ext cx="9994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Pillar 5: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041648"/>
            <a:ext cx="9994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350" b="0" i="0">
                <a:solidFill>
                  <a:srgbClr val="595959"/>
                </a:solidFill>
                <a:latin typeface="Arial"/>
              </a:rPr>
              <a:t>Postgraduate Diploma in Artificial Intelligence and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617720"/>
            <a:ext cx="99943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Debie Galleros  · 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193792"/>
            <a:ext cx="99943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600"/>
              </a:spcAft>
            </a:pPr>
            <a:r>
              <a:rPr sz="1100" b="0" i="0">
                <a:solidFill>
                  <a:srgbClr val="1F4E79"/>
                </a:solidFill>
                <a:latin typeface="Arial"/>
              </a:rPr>
              <a:t>Technical presentation — fit-ml.netlify.app · github.com/debiegalleros/fitml-capstone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33"/>
    </mc:Choice>
    <mc:Fallback>
      <p:transition spd="slow" advTm="173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IM_logo_2017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790355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932688"/>
            <a:ext cx="11384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Arial"/>
              </a:rPr>
              <a:t>Problem framing and task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400" b="1" i="0">
                <a:solidFill>
                  <a:srgbClr val="1F4E79"/>
                </a:solidFill>
                <a:latin typeface="Arial"/>
              </a:rPr>
              <a:t>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23449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online clothing return rate (vs ~8% in physical stores)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874519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400" b="1" i="0">
                <a:solidFill>
                  <a:srgbClr val="1F4E79"/>
                </a:solidFill>
                <a:latin typeface="Arial"/>
              </a:rPr>
              <a:t>$100B+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2523449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annual cost of returns to retailers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874519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400" b="1" i="0">
                <a:solidFill>
                  <a:srgbClr val="1F4E79"/>
                </a:solidFill>
                <a:latin typeface="Arial"/>
              </a:rPr>
              <a:t>2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23449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“will it fit?” and “how will it look on me?” — both drive hesitation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3429000"/>
            <a:ext cx="11183112" cy="0"/>
          </a:xfrm>
          <a:prstGeom prst="line">
            <a:avLst/>
          </a:prstGeom>
          <a:ln w="12700">
            <a:solidFill>
              <a:srgbClr val="C9C9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365760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The data science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5079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5166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Supervised multi-class classification: </a:t>
            </a:r>
            <a:r>
              <a:rPr sz="1250" b="0" i="0">
                <a:solidFill>
                  <a:srgbClr val="1A1A1A"/>
                </a:solidFill>
                <a:latin typeface="Arial"/>
              </a:rPr>
              <a:t>predict reported fit outcome — fit / runs small / runs large — from body measurements + ordered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61772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36008"/>
            <a:ext cx="5166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Labels are real customer fit feedback </a:t>
            </a:r>
            <a:r>
              <a:rPr sz="1250" b="0" i="0">
                <a:solidFill>
                  <a:srgbClr val="1A1A1A"/>
                </a:solidFill>
                <a:latin typeface="Arial"/>
              </a:rPr>
              <a:t>(not collaborative filtering)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18464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02936"/>
            <a:ext cx="5166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Selection metric: macro-F1 </a:t>
            </a:r>
            <a:r>
              <a:rPr sz="1250" b="0" i="0">
                <a:solidFill>
                  <a:srgbClr val="1A1A1A"/>
                </a:solidFill>
                <a:latin typeface="Arial"/>
              </a:rPr>
              <a:t>— accuracy is blind to minority classes under a 73%-majority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65760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What makes it different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05079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069080"/>
            <a:ext cx="50749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A published fairness audit </a:t>
            </a:r>
            <a:r>
              <a:rPr sz="1250" b="0" i="0">
                <a:solidFill>
                  <a:srgbClr val="1A1A1A"/>
                </a:solidFill>
                <a:latin typeface="Arial"/>
              </a:rPr>
              <a:t>— disparate impact, equalized odds, SHAP, and a mitigation with honest before/after numbers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1772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636008"/>
            <a:ext cx="50749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Commercial sizing tools are black boxes; </a:t>
            </a:r>
            <a:r>
              <a:rPr sz="1250" b="1" i="0">
                <a:solidFill>
                  <a:srgbClr val="1A1A1A"/>
                </a:solidFill>
                <a:latin typeface="Arial"/>
              </a:rPr>
              <a:t>FitML treats the audit as a first-class deliverable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18464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202936"/>
            <a:ext cx="50749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Generative AI try-on (IDM-VTON/SDXL via Replicate) gives the visual answer, with a 2D compositor as automatic fallback — not 3D</a:t>
            </a:r>
            <a:r>
              <a:rPr sz="125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FitML — Pillar 5: Capstone Project · Debie Galleros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IM_logo_2017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790355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932688"/>
            <a:ext cx="11384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Arial"/>
              </a:rPr>
              <a:t>Dataset: 251,047 real fit 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81328"/>
            <a:ext cx="11384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0" i="0">
                <a:solidFill>
                  <a:srgbClr val="595959"/>
                </a:solidFill>
                <a:latin typeface="Arial"/>
              </a:rPr>
              <a:t>Kaggle “Clothing Fit Dataset for Size Recommendation” — ModCloth + RentTheRunway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65960"/>
            <a:ext cx="667512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2058806"/>
            <a:ext cx="15197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87244" y="2058806"/>
            <a:ext cx="258775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Women's core (graded ML)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7292" y="2058806"/>
            <a:ext cx="2320747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Men's extension (demo)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50008"/>
            <a:ext cx="6675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" y="2442854"/>
            <a:ext cx="15197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7244" y="2442854"/>
            <a:ext cx="258775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251,047 real 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7292" y="2442854"/>
            <a:ext cx="2320747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200 synthetic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34056"/>
            <a:ext cx="6675120" cy="38404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2826902"/>
            <a:ext cx="15197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7244" y="2826902"/>
            <a:ext cx="258775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Real fit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7292" y="2826902"/>
            <a:ext cx="2320747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Uniqlo chart lookup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18104"/>
            <a:ext cx="6675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3210950"/>
            <a:ext cx="15197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Sizing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7244" y="3210950"/>
            <a:ext cx="258775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4 trained classifiers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57292" y="3210950"/>
            <a:ext cx="2320747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Deterministic rule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02152"/>
            <a:ext cx="6675120" cy="38404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5216" y="3594998"/>
            <a:ext cx="15197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Fairness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87244" y="3594998"/>
            <a:ext cx="258775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Included (full)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7292" y="3594998"/>
            <a:ext cx="2320747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Excluded (documented)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1965960"/>
            <a:ext cx="6675120" cy="0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2920" y="2350008"/>
            <a:ext cx="6675120" cy="0"/>
          </a:xfrm>
          <a:prstGeom prst="line">
            <a:avLst/>
          </a:prstGeom>
          <a:ln w="9525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2920" y="3886200"/>
            <a:ext cx="6675120" cy="0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4160520"/>
            <a:ext cx="6675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Why: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both platforms sell women's apparel, so real data is women's-only. Real, citable data where it exists; a small, clearly-flagged synthetic extension for the gap — an explicit limitation, not a silently patched one.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257800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Features (all self-reported / user-entered)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623560"/>
            <a:ext cx="6675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95959"/>
                </a:solidFill>
                <a:latin typeface="Arial"/>
              </a:rPr>
              <a:t>height · weight · bust band + cup · hip · body type · garment category · ordered size  —  target: fit / small / large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1828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Class balance (the core difficulty)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18120" y="2377440"/>
            <a:ext cx="2999232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927080" y="245059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72.7%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288950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fit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18120" y="3246120"/>
            <a:ext cx="565192" cy="475488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93040" y="33192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13.7%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3758183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large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18120" y="4114800"/>
            <a:ext cx="561066" cy="47548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88914" y="4187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13.6%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462686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small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5120640"/>
            <a:ext cx="39319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72.7 / 13.7 / 13.6 — a model that always says “fit” gets 72.7% accuracy while being useless.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FitML — Pillar 5: Capstone Project · Debie Galleros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IM_logo_2017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790355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932688"/>
            <a:ext cx="11384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Arial"/>
              </a:rPr>
              <a:t>EDA and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81328"/>
            <a:ext cx="11384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0" i="0">
                <a:solidFill>
                  <a:srgbClr val="595959"/>
                </a:solidFill>
                <a:latin typeface="Arial"/>
              </a:rPr>
              <a:t>notebooks/02_eda_feature_engineering.ipynb · reusable logic in src/prepare_data.py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5440680" cy="1938528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30552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50" b="1" i="0">
                <a:solidFill>
                  <a:srgbClr val="1F4E79"/>
                </a:solidFill>
                <a:latin typeface="Arial"/>
              </a:rPr>
              <a:t>Two schemas, harmonized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96312"/>
            <a:ext cx="4983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080" b="0" i="0">
                <a:solidFill>
                  <a:srgbClr val="1A1A1A"/>
                </a:solidFill>
                <a:latin typeface="Arial"/>
              </a:rPr>
              <a:t>Height parsed from “5ft 6in” vs “5' 8"”; 68 RentTheRunway category tags mapped to a 4-bucket taxonomy; cup letters unified to an ordinal scale (AA=0 … K=11). 24,287 ModCloth rows with no garment signal dropped.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965960"/>
            <a:ext cx="5440680" cy="1938528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3952" y="2130552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50" b="1" i="0">
                <a:solidFill>
                  <a:srgbClr val="1F4E79"/>
                </a:solidFill>
                <a:latin typeface="Arial"/>
              </a:rPr>
              <a:t>Missingness is structural — flagged, not hidden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496312"/>
            <a:ext cx="4983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080" b="0" i="0">
                <a:solidFill>
                  <a:srgbClr val="1A1A1A"/>
                </a:solidFill>
                <a:latin typeface="Arial"/>
              </a:rPr>
              <a:t>Weight absent for ALL ModCloth rows; hips for ALL RentTheRunway rows. Each gets a _missing indicator beside median imputation; body_type gets an explicit not_reported category (never a guessed shape). SHAP later proves the model uses these flags.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114800"/>
            <a:ext cx="5440680" cy="1938528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279392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50" b="1" i="0">
                <a:solidFill>
                  <a:srgbClr val="1F4E79"/>
                </a:solidFill>
                <a:latin typeface="Arial"/>
              </a:rPr>
              <a:t>PCA: a useful negative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45152"/>
            <a:ext cx="4983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080" b="0" i="0">
                <a:solidFill>
                  <a:srgbClr val="1A1A1A"/>
                </a:solidFill>
                <a:latin typeface="Arial"/>
              </a:rPr>
              <a:t>Body-type clusters overlap heavily in 2D — components track overall size, not shape. Raw measurements won't trivially separate body types, so the fairness audit needs per-group metrics.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4114800"/>
            <a:ext cx="5440680" cy="1938528"/>
          </a:xfrm>
          <a:prstGeom prst="roundRect">
            <a:avLst>
              <a:gd name="adj" fmla="val 4500"/>
            </a:avLst>
          </a:prstGeom>
          <a:solidFill>
            <a:srgbClr val="F5F6F8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4279392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50" b="1" i="0">
                <a:solidFill>
                  <a:srgbClr val="1F4E79"/>
                </a:solidFill>
                <a:latin typeface="Arial"/>
              </a:rPr>
              <a:t>Leakage discipline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4645152"/>
            <a:ext cx="4983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080" b="0" i="0">
                <a:solidFill>
                  <a:srgbClr val="1A1A1A"/>
                </a:solidFill>
                <a:latin typeface="Arial"/>
              </a:rPr>
              <a:t>model_ready.csv ships unscaled and un-encoded; scaling and one-hot encoding are fitted inside each model's train-only Pipeline. Post-purchase fields (rating, review text) excluded as features.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FitML — Pillar 5: Capstone Project · Debie Galleros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IM_logo_2017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790355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932688"/>
            <a:ext cx="11384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Arial"/>
              </a:rPr>
              <a:t>Model comparison: four classifiers, one honest 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81328"/>
            <a:ext cx="11384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0" i="0">
                <a:solidFill>
                  <a:srgbClr val="595959"/>
                </a:solidFill>
                <a:latin typeface="Arial"/>
              </a:rPr>
              <a:t>Same stratified 80/20 split (200,837 / 50,210 rows, seed 42) · same features · preprocessing fitted train-only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03120"/>
            <a:ext cx="694944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2195966"/>
            <a:ext cx="200253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87752" y="2195966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0673" y="2195966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macro-F1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3595" y="2195966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F1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6516" y="2195966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F1 large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9438" y="2195966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F1 small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87168"/>
            <a:ext cx="6949440" cy="384048"/>
          </a:xfrm>
          <a:prstGeom prst="rect">
            <a:avLst/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5216" y="2580014"/>
            <a:ext cx="200253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XGBoost  (selected)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7752" y="2580014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0.7272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0673" y="2580014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0.2918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3595" y="2580014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0.8418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6516" y="2580014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0.0219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9438" y="2580014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0.0115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871215"/>
            <a:ext cx="6949440" cy="38404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216" y="2964062"/>
            <a:ext cx="200253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Random 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87752" y="2964062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0.7278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0673" y="2964062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0.2848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3595" y="2964062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0.8424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6516" y="2964062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0.0101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9438" y="2964062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0.0018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255263"/>
            <a:ext cx="69494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5216" y="3348110"/>
            <a:ext cx="200253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MLP (64/32)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87752" y="3348110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0.7272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0673" y="3348110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0.2825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3595" y="3348110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0.8420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06516" y="3348110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0.0043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438" y="3348110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0.0012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639311"/>
            <a:ext cx="6949440" cy="38404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5216" y="3732158"/>
            <a:ext cx="200253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Logistic Regression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87752" y="3732158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0.7267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0673" y="3732158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0.2822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33595" y="3732158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0.8418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06516" y="3732158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0.0000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9438" y="3732158"/>
            <a:ext cx="93177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0.0046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2103120"/>
            <a:ext cx="6949440" cy="0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02920" y="2487168"/>
            <a:ext cx="6949440" cy="0"/>
          </a:xfrm>
          <a:prstGeom prst="line">
            <a:avLst/>
          </a:prstGeom>
          <a:ln w="9525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02920" y="4023360"/>
            <a:ext cx="6949440" cy="0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02920" y="4251960"/>
            <a:ext cx="69494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Every unweighted model collapses toward the majority class </a:t>
            </a:r>
            <a:r>
              <a:rPr sz="1250" b="0" i="0">
                <a:solidFill>
                  <a:srgbClr val="1A1A1A"/>
                </a:solidFill>
                <a:latin typeface="Arial"/>
              </a:rPr>
              <a:t>— accuracy is pinned at the 72.7% baseline for all four; logistic regression never predicts “large” at all. XGBoost wins as the only model with non-trivial F1 on both minority classes.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349240"/>
            <a:ext cx="69494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1" i="0">
                <a:solidFill>
                  <a:srgbClr val="1A1A1A"/>
                </a:solidFill>
                <a:latin typeface="Arial"/>
              </a:rPr>
              <a:t>Trees beat the MLP, as predicted </a:t>
            </a:r>
            <a:r>
              <a:rPr sz="1250" b="0" i="0">
                <a:solidFill>
                  <a:srgbClr val="1A1A1A"/>
                </a:solidFill>
                <a:latin typeface="Arial"/>
              </a:rPr>
              <a:t>— gradient-boosted trees dominate MLPs on modest tabular data. A legitimate finding, reported honestly (equal-footing, untuned hyperparameters for all four).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18120" y="2103120"/>
            <a:ext cx="3886200" cy="3931920"/>
          </a:xfrm>
          <a:prstGeom prst="roundRect">
            <a:avLst>
              <a:gd name="adj" fmla="val 4000"/>
            </a:avLst>
          </a:prstGeom>
          <a:solidFill>
            <a:srgbClr val="E9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92440" y="233172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Why macro-F1?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2440" y="2788920"/>
            <a:ext cx="338328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“Small” and “large” are the whole point: they are the cases where a recommendation prevents a return.</a:t>
            </a:r>
          </a:p>
          <a:p>
            <a:pPr algn="l">
              <a:lnSpc>
                <a:spcPct val="116000"/>
              </a:lnSpc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Macro-F1 weights each class equally, exposing the minority-class failure that accuracy hides.</a:t>
            </a:r>
          </a:p>
          <a:p>
            <a:pPr algn="l">
              <a:lnSpc>
                <a:spcPct val="116000"/>
              </a:lnSpc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Accuracy would call a coin-flip between these models; macro-F1 separates them.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FitML — Pillar 5: Capstone Project · Debie Galleros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IM_logo_2017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790355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932688"/>
            <a:ext cx="11384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Arial"/>
              </a:rPr>
              <a:t>Fairness audit: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81328"/>
            <a:ext cx="11384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0" i="0">
                <a:solidFill>
                  <a:srgbClr val="595959"/>
                </a:solidFill>
                <a:latin typeface="Arial"/>
              </a:rPr>
              <a:t>src/fairness_audit.py re-derives the exact Phase 5 split and asserts it matches the pinned test indices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Two harms audited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166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Quality-of-service: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misfit detection failing more for some groups → wrong “it fits” reassurance → returns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52928"/>
            <a:ext cx="5166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Allocation-style: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the favorable “fit” prediction handed out at unequal 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6616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Groups (each ≥ 1,000 test rows)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1363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5166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body_type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— 8 groups incl. not_reported (n=14,800)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9768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15968"/>
            <a:ext cx="5166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height_band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— under 160 / 160–169 / 170+ 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68172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00016"/>
            <a:ext cx="5166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size_band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— US 0–6 / 8–14 / 16–22 / 24+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21208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577840"/>
            <a:ext cx="53949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Per-group accuracy and per-class recall · disparate impact ratio (four-fifths rule, &lt;0.8 flagged) · equalized-odds TPR/FPR spreads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920240"/>
            <a:ext cx="5349240" cy="4206240"/>
          </a:xfrm>
          <a:prstGeom prst="roundRect">
            <a:avLst>
              <a:gd name="adj" fmla="val 3500"/>
            </a:avLst>
          </a:prstGeom>
          <a:solidFill>
            <a:srgbClr val="FB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214884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50" b="1" i="0">
                <a:solidFill>
                  <a:srgbClr val="B7791F"/>
                </a:solidFill>
                <a:latin typeface="Arial"/>
              </a:rPr>
              <a:t>Baseline finding: “fair” numbers that mean nothing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697480"/>
            <a:ext cx="48006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No group is DI-flagged (all ≥ 0.98) — because the model predicts “fit” for 99.5% of rows in every group. A model that always says yes passes the four-fifths rule by construction.</a:t>
            </a:r>
          </a:p>
          <a:p>
            <a:pPr algn="l">
              <a:lnSpc>
                <a:spcPct val="116000"/>
              </a:lnSpc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Inside the predictions: a 7.3-point accuracy gap against size 24+ shoppers; “runs large” caught 8.2% of the time for full-bust vs 0.34% for pear (24×); zero “small” recall for apple body types.</a:t>
            </a:r>
          </a:p>
          <a:p>
            <a:pPr algn="l">
              <a:lnSpc>
                <a:spcPct val="116000"/>
              </a:lnSpc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The fit-class FPR is 0.96–1.00 everywhere: when an item does not fit, virtually every shopper is told it does.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FitML — Pillar 5: Capstone Project · Debie Galleros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IM_logo_2017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790355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932688"/>
            <a:ext cx="11384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Arial"/>
              </a:rPr>
              <a:t>Mitigation: class-weighted retraining — before /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81328"/>
            <a:ext cx="11384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0" i="0">
                <a:solidFill>
                  <a:srgbClr val="595959"/>
                </a:solidFill>
                <a:latin typeface="Arial"/>
              </a:rPr>
              <a:t>Identical pipeline, split, and seed; the only change is balanced sample weights</a:t>
            </a:r>
          </a:p>
        </p:txBody>
      </p:sp>
      <p:pic>
        <p:nvPicPr>
          <p:cNvPr id="5" name="Picture 4" descr="recall_befor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11680"/>
            <a:ext cx="5852160" cy="360132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20840" y="2057400"/>
            <a:ext cx="4983480" cy="3383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03136" y="2130903"/>
            <a:ext cx="2509113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12249" y="2130903"/>
            <a:ext cx="1154887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8284" y="2130903"/>
            <a:ext cx="1154887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after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2395728"/>
            <a:ext cx="498348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03136" y="2469231"/>
            <a:ext cx="2509113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macro-F1 (selection metric)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12249" y="2469231"/>
            <a:ext cx="1154887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0.2918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8284" y="2469231"/>
            <a:ext cx="1154887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0.3596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2734056"/>
            <a:ext cx="4983480" cy="33832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03136" y="2807559"/>
            <a:ext cx="2509113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recall — large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12249" y="2807559"/>
            <a:ext cx="1154887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0.011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8284" y="2807559"/>
            <a:ext cx="1154887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0.486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3072384"/>
            <a:ext cx="498348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03136" y="3145887"/>
            <a:ext cx="2509113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recall — small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2249" y="3145887"/>
            <a:ext cx="1154887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0.006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08284" y="3145887"/>
            <a:ext cx="1154887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0.546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3410712"/>
            <a:ext cx="4983480" cy="33832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03136" y="3484215"/>
            <a:ext cx="2509113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worst-group fit FPR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2249" y="3484215"/>
            <a:ext cx="1154887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0.996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08284" y="3484215"/>
            <a:ext cx="1154887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0.346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3749039"/>
            <a:ext cx="498348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03136" y="3822543"/>
            <a:ext cx="2509113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2249" y="3822543"/>
            <a:ext cx="1154887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0.727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08284" y="3822543"/>
            <a:ext cx="1154887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0.396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4087368"/>
            <a:ext cx="4983480" cy="33832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03136" y="4160871"/>
            <a:ext cx="2509113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DI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2249" y="4160871"/>
            <a:ext cx="1154887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0 (vacuous)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08284" y="4160871"/>
            <a:ext cx="1154887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7 (informative)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20840" y="2057400"/>
            <a:ext cx="4983480" cy="0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720840" y="2395728"/>
            <a:ext cx="4983480" cy="0"/>
          </a:xfrm>
          <a:prstGeom prst="line">
            <a:avLst/>
          </a:prstGeom>
          <a:ln w="9525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720840" y="4425696"/>
            <a:ext cx="4983480" cy="0"/>
          </a:xfrm>
          <a:prstGeom prst="line">
            <a:avLst/>
          </a:prstGeom>
          <a:ln w="1270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720840" y="4617720"/>
            <a:ext cx="49834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1" i="0">
                <a:solidFill>
                  <a:srgbClr val="1A1A1A"/>
                </a:solidFill>
                <a:latin typeface="Arial"/>
              </a:rPr>
              <a:t>The flags after mitigation are informative, not a regression </a:t>
            </a:r>
            <a:r>
              <a:rPr sz="1150" b="0" i="0">
                <a:solidFill>
                  <a:srgbClr val="1A1A1A"/>
                </a:solidFill>
                <a:latin typeface="Arial"/>
              </a:rPr>
              <a:t>— once the model actually discriminates between classes, it surfaces the real disparity the degenerate baseline had hidden (size 24+ DI 0.41; apple/full-bust 0.64–0.70). Height stays equal (≥ 0.99).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80644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 i="0">
                <a:solidFill>
                  <a:srgbClr val="1F4E79"/>
                </a:solidFill>
                <a:latin typeface="Arial"/>
              </a:rPr>
              <a:t>Deployed: the class-weighted model. </a:t>
            </a:r>
            <a:r>
              <a:rPr sz="1150" b="0" i="0">
                <a:solidFill>
                  <a:srgbClr val="1A1A1A"/>
                </a:solidFill>
                <a:latin typeface="Arial"/>
              </a:rPr>
              <a:t>Catching misfits matters more than raw accuracy; the confidence % and blue/amber advisory layer absorb the uncertainty.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FitML — Pillar 5: Capstone Project · Debie Galleros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IM_logo_2017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790355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932688"/>
            <a:ext cx="11384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Arial"/>
              </a:rPr>
              <a:t>Explainability: SHAP on the winning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81328"/>
            <a:ext cx="11384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0" i="0">
                <a:solidFill>
                  <a:srgbClr val="595959"/>
                </a:solidFill>
                <a:latin typeface="Arial"/>
              </a:rPr>
              <a:t>TreeExplainer · 3,000 test rows · seed 42</a:t>
            </a:r>
          </a:p>
        </p:txBody>
      </p:sp>
      <p:pic>
        <p:nvPicPr>
          <p:cNvPr id="5" name="Picture 4" descr="shap_global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65960"/>
            <a:ext cx="6126480" cy="45948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95160" y="213055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2148840"/>
            <a:ext cx="44348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size_ordered dominates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(mean |SHAP| 0.38 for small, 0.27 for large vs 0.08 for fit) — and directionally correctly: high ordered size, low weight, small bust band all push toward “runs small”.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3300984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3319272"/>
            <a:ext cx="44348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The model learned real sizing signal;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it is the decision threshold, drowned by class imbalance, that fails — exactly what class weighting attacks.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4471416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4489704"/>
            <a:ext cx="44348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B7791F"/>
                </a:solidFill>
                <a:latin typeface="Arial"/>
              </a:rPr>
              <a:t>Red flag: missingness is predictive.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weight_kg_missing and body_type_not_reported rank in the top 7 for minority classes. Shoppers who disclose less get systematically different predictions — a data-completeness bias, answered with transparency in the product (confidence drops when key fields are absent).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FitML — Pillar 5: Capstone Project · Debie Galleros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IM_logo_2017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790355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932688"/>
            <a:ext cx="11384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Arial"/>
              </a:rPr>
              <a:t>Architecture: data to deployed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50" b="1" i="0">
                <a:solidFill>
                  <a:srgbClr val="1F4E79"/>
                </a:solidFill>
                <a:latin typeface="Arial"/>
              </a:rPr>
              <a:t>OFFLINE — reproducible, seed 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2286000" cy="960120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2185415"/>
            <a:ext cx="20665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150" b="1" i="0">
                <a:solidFill>
                  <a:srgbClr val="1A1A1A"/>
                </a:solidFill>
                <a:latin typeface="Arial"/>
              </a:rPr>
              <a:t>Kaggle fit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468879"/>
            <a:ext cx="206654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30" b="0" i="0">
                <a:solidFill>
                  <a:srgbClr val="595959"/>
                </a:solidFill>
                <a:latin typeface="Arial"/>
              </a:rPr>
              <a:t>251k reviews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30" b="0" i="0">
                <a:solidFill>
                  <a:srgbClr val="595959"/>
                </a:solidFill>
                <a:latin typeface="Arial"/>
              </a:rPr>
              <a:t>prepare_data.py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103120"/>
            <a:ext cx="2286000" cy="960120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55848" y="2185415"/>
            <a:ext cx="20665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150" b="1" i="0">
                <a:solidFill>
                  <a:srgbClr val="1A1A1A"/>
                </a:solidFill>
                <a:latin typeface="Arial"/>
              </a:rPr>
              <a:t>model_ready.csv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2468879"/>
            <a:ext cx="206654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30" b="0" i="0">
                <a:solidFill>
                  <a:srgbClr val="595959"/>
                </a:solidFill>
                <a:latin typeface="Arial"/>
              </a:rPr>
              <a:t>15 columns, flags,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30" b="0" i="0">
                <a:solidFill>
                  <a:srgbClr val="595959"/>
                </a:solidFill>
                <a:latin typeface="Arial"/>
              </a:rPr>
              <a:t>no leakage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103120"/>
            <a:ext cx="2286000" cy="960120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9048" y="2185415"/>
            <a:ext cx="20665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150" b="1" i="0">
                <a:solidFill>
                  <a:srgbClr val="1A1A1A"/>
                </a:solidFill>
                <a:latin typeface="Arial"/>
              </a:rPr>
              <a:t>train_models.py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8" y="2468879"/>
            <a:ext cx="206654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30" b="0" i="0">
                <a:solidFill>
                  <a:srgbClr val="595959"/>
                </a:solidFill>
                <a:latin typeface="Arial"/>
              </a:rPr>
              <a:t>LogReg · RF ·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30" b="0" i="0">
                <a:solidFill>
                  <a:srgbClr val="595959"/>
                </a:solidFill>
                <a:latin typeface="Arial"/>
              </a:rPr>
              <a:t>XGBoost · MLP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2103120"/>
            <a:ext cx="2971800" cy="960120"/>
          </a:xfrm>
          <a:prstGeom prst="roundRect">
            <a:avLst>
              <a:gd name="adj" fmla="val 7000"/>
            </a:avLst>
          </a:prstGeom>
          <a:solidFill>
            <a:srgbClr val="E9F0F8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42248" y="2185415"/>
            <a:ext cx="275234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150" b="1" i="0">
                <a:solidFill>
                  <a:srgbClr val="1F4E79"/>
                </a:solidFill>
                <a:latin typeface="Arial"/>
              </a:rPr>
              <a:t>fairness_audit.py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42248" y="2468879"/>
            <a:ext cx="275234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30" b="0" i="0">
                <a:solidFill>
                  <a:srgbClr val="595959"/>
                </a:solidFill>
                <a:latin typeface="Arial"/>
              </a:rPr>
              <a:t>DI · equalized odds · SHAP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30" b="0" i="0">
                <a:solidFill>
                  <a:srgbClr val="595959"/>
                </a:solidFill>
                <a:latin typeface="Arial"/>
              </a:rPr>
              <a:t>→ xgboost_weighted.joblib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88920" y="2578608"/>
            <a:ext cx="45720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532120" y="2578608"/>
            <a:ext cx="45720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75320" y="2578608"/>
            <a:ext cx="45720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2920" y="3291840"/>
            <a:ext cx="2286000" cy="868680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" y="3374136"/>
            <a:ext cx="20665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150" b="1" i="0">
                <a:solidFill>
                  <a:srgbClr val="1A1A1A"/>
                </a:solidFill>
                <a:latin typeface="Arial"/>
              </a:rPr>
              <a:t>Catalog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3657600"/>
            <a:ext cx="2066543" cy="457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30" b="0" i="0">
                <a:solidFill>
                  <a:srgbClr val="595959"/>
                </a:solidFill>
                <a:latin typeface="Arial"/>
              </a:rPr>
              <a:t>117 items · rembg cutouts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30" b="0" i="0">
                <a:solidFill>
                  <a:srgbClr val="595959"/>
                </a:solidFill>
                <a:latin typeface="Arial"/>
              </a:rPr>
              <a:t>234 hue variants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645920" y="4160520"/>
            <a:ext cx="2743200" cy="502920"/>
          </a:xfrm>
          <a:prstGeom prst="line">
            <a:avLst/>
          </a:prstGeom>
          <a:ln w="15875">
            <a:solidFill>
              <a:srgbClr val="C9C9C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77440" y="422452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catalog assets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3434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50" b="1" i="0">
                <a:solidFill>
                  <a:srgbClr val="2F7D4F"/>
                </a:solidFill>
                <a:latin typeface="Arial"/>
              </a:rPr>
              <a:t>LIVE — fit-ml.onrender.com (Docker) + fit-ml.netlify.app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663440"/>
            <a:ext cx="2651760" cy="1371600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" y="4745736"/>
            <a:ext cx="24323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150" b="1" i="0">
                <a:solidFill>
                  <a:srgbClr val="1A1A1A"/>
                </a:solidFill>
                <a:latin typeface="Arial"/>
              </a:rPr>
              <a:t>Frontend (vanilla JS)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5029200"/>
            <a:ext cx="2432304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30" b="0" i="0">
                <a:solidFill>
                  <a:srgbClr val="595959"/>
                </a:solidFill>
                <a:latin typeface="Arial"/>
              </a:rPr>
              <a:t>6 pages · Canvas compositing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30" b="0" i="0">
                <a:solidFill>
                  <a:srgbClr val="595959"/>
                </a:solidFill>
                <a:latin typeface="Arial"/>
              </a:rPr>
              <a:t>profile · catalog · try-on ·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30" b="0" i="0">
                <a:solidFill>
                  <a:srgbClr val="595959"/>
                </a:solidFill>
                <a:latin typeface="Arial"/>
              </a:rPr>
              <a:t>history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663440"/>
            <a:ext cx="3291840" cy="1371600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13048" y="4745736"/>
            <a:ext cx="3072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150" b="1" i="0">
                <a:solidFill>
                  <a:srgbClr val="1A1A1A"/>
                </a:solidFill>
                <a:latin typeface="Arial"/>
              </a:rPr>
              <a:t>Flask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3048" y="5029200"/>
            <a:ext cx="3072384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30" b="0" i="0">
                <a:solidFill>
                  <a:srgbClr val="595959"/>
                </a:solidFill>
                <a:latin typeface="Arial"/>
              </a:rPr>
              <a:t>/upload-profile (crop-at-upload, pose)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30" b="0" i="0">
                <a:solidFill>
                  <a:srgbClr val="595959"/>
                </a:solidFill>
                <a:latin typeface="Arial"/>
              </a:rPr>
              <a:t>/recommend-size (weighted XGB,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30" b="0" i="0">
                <a:solidFill>
                  <a:srgbClr val="595959"/>
                </a:solidFill>
                <a:latin typeface="Arial"/>
              </a:rPr>
              <a:t>chart-anchored) · /api/tryon · /advice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5240" y="4663440"/>
            <a:ext cx="2148840" cy="621792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44967" y="4745736"/>
            <a:ext cx="1929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150" b="1" i="0">
                <a:solidFill>
                  <a:srgbClr val="1A1A1A"/>
                </a:solidFill>
                <a:latin typeface="Arial"/>
              </a:rPr>
              <a:t>MediaPipe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4967" y="5029200"/>
            <a:ext cx="1929384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30" b="0" i="0">
                <a:solidFill>
                  <a:srgbClr val="595959"/>
                </a:solidFill>
                <a:latin typeface="Arial"/>
              </a:rPr>
              <a:t>pose · crop-at-upload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35240" y="5413248"/>
            <a:ext cx="2148840" cy="621792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44967" y="5495544"/>
            <a:ext cx="1929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150" b="1" i="0">
                <a:solidFill>
                  <a:srgbClr val="1A1A1A"/>
                </a:solidFill>
                <a:latin typeface="Arial"/>
              </a:rPr>
              <a:t>Claude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44967" y="5779008"/>
            <a:ext cx="1929384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30" b="0" i="0">
                <a:solidFill>
                  <a:srgbClr val="595959"/>
                </a:solidFill>
                <a:latin typeface="Arial"/>
              </a:rPr>
              <a:t>advice text only (read-only)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154680" y="5349240"/>
            <a:ext cx="54864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995160" y="4974336"/>
            <a:ext cx="640080" cy="100584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995160" y="5623560"/>
            <a:ext cx="640080" cy="100584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5349240" y="3063240"/>
            <a:ext cx="4343400" cy="1600200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863840" y="397763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900" b="1" i="0">
                <a:solidFill>
                  <a:srgbClr val="1F4E79"/>
                </a:solidFill>
                <a:latin typeface="Arial"/>
              </a:rPr>
              <a:t>served model (weighted XGBoost)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FitML — Pillar 5: Capstone Project · Debie Galleros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IM_logo_2017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790355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932688"/>
            <a:ext cx="11384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Arial"/>
              </a:rPr>
              <a:t>Generative AI: used deliberately, fenced off from the graded 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20240"/>
            <a:ext cx="5486400" cy="23774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12140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50" b="1" i="0">
                <a:solidFill>
                  <a:srgbClr val="1F4E79"/>
                </a:solidFill>
                <a:latin typeface="Arial"/>
              </a:rPr>
              <a:t>Claude Vision + Replicate — generative try-on &amp; fit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49377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080" b="0" i="0">
                <a:solidFill>
                  <a:srgbClr val="1A1A1A"/>
                </a:solidFill>
                <a:latin typeface="Arial"/>
              </a:rPr>
              <a:t>Claude Vision analyzes the shopper's photo + garment, producing a structured prompt; IDM-VTON (default) or SDXL inpainting renders the try-on via Replicate. Claude then reviews the composited image for two paragraphs of plain-language advice (second must start “Note:”; tailoring jargon banned).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080" b="0" i="0">
                <a:solidFill>
                  <a:srgbClr val="1A1A1A"/>
                </a:solidFill>
                <a:latin typeface="Arial"/>
              </a:rPr>
              <a:t>Try-on renders the recommended size, never decides it. Advice never estimates measurements or overrides the model — a read-only consumer of the prediction.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92024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2121408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350" b="1" i="0">
                <a:solidFill>
                  <a:srgbClr val="1F4E79"/>
                </a:solidFill>
                <a:latin typeface="Arial"/>
              </a:rPr>
              <a:t>rembg / U²-Net — catalog background removal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920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080" b="0" i="0">
                <a:solidFill>
                  <a:srgbClr val="1A1A1A"/>
                </a:solidFill>
                <a:latin typeface="Arial"/>
              </a:rPr>
              <a:t>A pretrained segmentation CNN produces the transparent garment PNGs the try-on compositor warps.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1080" b="0" i="0">
                <a:solidFill>
                  <a:srgbClr val="1A1A1A"/>
                </a:solidFill>
                <a:latin typeface="Arial"/>
              </a:rPr>
              <a:t>Runs offline, once per image, at catalog build time. Sees no user data, produces no labels, touches no training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50" b="1" i="0">
                <a:solidFill>
                  <a:srgbClr val="1A1A1A"/>
                </a:solidFill>
                <a:latin typeface="Arial"/>
              </a:rPr>
              <a:t>Why the fence?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01091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Auditability —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the audit's quantitative claims need a fixed, inspectable model; a generative model in the prediction path would make them unverifiable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431536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49824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No silent data invention —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vision-estimated measurements would inject body-type-correlated error into exactly the variables the audit stratifies 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85216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70448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Reproducibility —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graded artifacts rebuild from fixed seeds; generative output is confined to advice prose and one-time asset prep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FitML — Pillar 5: Capstone Project · Debie Galleros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IM_logo_2017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2608"/>
            <a:ext cx="790355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932688"/>
            <a:ext cx="11384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 i="0">
                <a:solidFill>
                  <a:srgbClr val="1A1A1A"/>
                </a:solidFill>
                <a:latin typeface="Arial"/>
              </a:rPr>
              <a:t>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50" b="1" i="0">
                <a:solidFill>
                  <a:srgbClr val="1A1A1A"/>
                </a:solidFill>
                <a:latin typeface="Arial"/>
              </a:rPr>
              <a:t>Known limitations (documented, not hidden)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2199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8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5257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80" b="1" i="0">
                <a:solidFill>
                  <a:srgbClr val="1A1A1A"/>
                </a:solidFill>
                <a:latin typeface="Arial"/>
              </a:rPr>
              <a:t>Severe class imbalance remains the dominant problem </a:t>
            </a:r>
            <a:r>
              <a:rPr sz="1180" b="0" i="0">
                <a:solidFill>
                  <a:srgbClr val="1A1A1A"/>
                </a:solidFill>
                <a:latin typeface="Arial"/>
              </a:rPr>
              <a:t>— one mitigation trialed, fully audited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25496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8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43784"/>
            <a:ext cx="5257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80" b="0" i="0">
                <a:solidFill>
                  <a:srgbClr val="1A1A1A"/>
                </a:solidFill>
                <a:latin typeface="Arial"/>
              </a:rPr>
              <a:t>Random split does not group repeat customers (IDs dropped upstream)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2900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8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47288"/>
            <a:ext cx="5257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80" b="0" i="0">
                <a:solidFill>
                  <a:srgbClr val="1A1A1A"/>
                </a:solidFill>
                <a:latin typeface="Arial"/>
              </a:rPr>
              <a:t>Self-reported measurements — noisy, plausibly in group-correlated 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32504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8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50792"/>
            <a:ext cx="5257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80" b="0" i="0">
                <a:solidFill>
                  <a:srgbClr val="1A1A1A"/>
                </a:solidFill>
                <a:latin typeface="Arial"/>
              </a:rPr>
              <a:t>Groups are proxies: no age/ethnicity/disability fields in the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3600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8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54296"/>
            <a:ext cx="5257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80" b="0" i="0">
                <a:solidFill>
                  <a:srgbClr val="1A1A1A"/>
                </a:solidFill>
                <a:latin typeface="Arial"/>
              </a:rPr>
              <a:t>Men's extension is chart-based and unaudited,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828800"/>
            <a:ext cx="5349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450" b="1" i="0">
                <a:solidFill>
                  <a:srgbClr val="1F4E79"/>
                </a:solidFill>
                <a:latin typeface="Arial"/>
              </a:rPr>
              <a:t>Future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2199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8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4028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80" b="1" i="0">
                <a:solidFill>
                  <a:srgbClr val="1A1A1A"/>
                </a:solidFill>
                <a:latin typeface="Arial"/>
              </a:rPr>
              <a:t>Probability calibration + per-group thresholds </a:t>
            </a:r>
            <a:r>
              <a:rPr sz="1180" b="0" i="0">
                <a:solidFill>
                  <a:srgbClr val="1A1A1A"/>
                </a:solidFill>
                <a:latin typeface="Arial"/>
              </a:rPr>
              <a:t>to equalize misfit-detection rates — the clear next mitigation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5351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8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7180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80" b="1" i="0">
                <a:solidFill>
                  <a:srgbClr val="1A1A1A"/>
                </a:solidFill>
                <a:latin typeface="Arial"/>
              </a:rPr>
              <a:t>FIT dataset (2026, 1.13M fit-aware try-on triplets) </a:t>
            </a:r>
            <a:r>
              <a:rPr sz="1180" b="0" i="0">
                <a:solidFill>
                  <a:srgbClr val="1A1A1A"/>
                </a:solidFill>
                <a:latin typeface="Arial"/>
              </a:rPr>
              <a:t>— the research path beyond today's garment-conditioned rendering at a scaled size, toward true per-size drape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68503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8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0332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80" b="1" i="0">
                <a:solidFill>
                  <a:srgbClr val="1A1A1A"/>
                </a:solidFill>
                <a:latin typeface="Arial"/>
              </a:rPr>
              <a:t>Transformer clothing parsing </a:t>
            </a:r>
            <a:r>
              <a:rPr sz="1180" b="0" i="0">
                <a:solidFill>
                  <a:srgbClr val="1A1A1A"/>
                </a:solidFill>
                <a:latin typeface="Arial"/>
              </a:rPr>
              <a:t>(SegFormer benchmarked: no net win today — 59 vs 56 clean items, 5 failures)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41655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8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43484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80" b="1" i="0">
                <a:solidFill>
                  <a:srgbClr val="1A1A1A"/>
                </a:solidFill>
                <a:latin typeface="Arial"/>
              </a:rPr>
              <a:t>Color-suitability matching </a:t>
            </a:r>
            <a:r>
              <a:rPr sz="1180" b="0" i="0">
                <a:solidFill>
                  <a:srgbClr val="1A1A1A"/>
                </a:solidFill>
                <a:latin typeface="Arial"/>
              </a:rPr>
              <a:t>— scoped out from the start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14807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80" b="1" i="0">
                <a:solidFill>
                  <a:srgbClr val="1F4E79"/>
                </a:solidFill>
                <a:latin typeface="Arial"/>
              </a:rPr>
              <a:t>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166359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80" b="1" i="0">
                <a:solidFill>
                  <a:srgbClr val="1A1A1A"/>
                </a:solidFill>
                <a:latin typeface="Arial"/>
              </a:rPr>
              <a:t>bust_input_method audit </a:t>
            </a:r>
            <a:r>
              <a:rPr sz="1180" b="0" i="0">
                <a:solidFill>
                  <a:srgbClr val="1A1A1A"/>
                </a:solidFill>
                <a:latin typeface="Arial"/>
              </a:rPr>
              <a:t>once real usage data exists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5897880"/>
            <a:ext cx="11183112" cy="0"/>
          </a:xfrm>
          <a:prstGeom prst="line">
            <a:avLst/>
          </a:prstGeom>
          <a:ln w="12700">
            <a:solidFill>
              <a:srgbClr val="C9C9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603504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Live demo: </a:t>
            </a:r>
            <a:r>
              <a:rPr sz="1200" b="0" i="0">
                <a:solidFill>
                  <a:srgbClr val="1F4E79"/>
                </a:solidFill>
                <a:latin typeface="Arial"/>
              </a:rPr>
              <a:t>fit-ml.netlify.app</a:t>
            </a:r>
            <a:r>
              <a:rPr sz="1200" b="1" i="0">
                <a:solidFill>
                  <a:srgbClr val="1A1A1A"/>
                </a:solidFill>
                <a:latin typeface="Arial"/>
              </a:rPr>
              <a:t>    Repository: </a:t>
            </a:r>
            <a:r>
              <a:rPr sz="1200" b="0" i="0">
                <a:solidFill>
                  <a:srgbClr val="1F4E79"/>
                </a:solidFill>
                <a:latin typeface="Arial"/>
              </a:rPr>
              <a:t>github.com/debiegalleros/fitml-capstone</a:t>
            </a:r>
            <a:r>
              <a:rPr sz="1200" b="1" i="0">
                <a:solidFill>
                  <a:srgbClr val="1A1A1A"/>
                </a:solidFill>
                <a:latin typeface="Arial"/>
              </a:rPr>
              <a:t>    Full audit: </a:t>
            </a:r>
            <a:r>
              <a:rPr sz="1200" b="0" i="0">
                <a:solidFill>
                  <a:srgbClr val="1F4E79"/>
                </a:solidFill>
                <a:latin typeface="Arial"/>
              </a:rPr>
              <a:t>docs/fairness_report.md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1945</Words>
  <Application>Microsoft Macintosh PowerPoint</Application>
  <PresentationFormat>Widescreen</PresentationFormat>
  <Paragraphs>233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Debie Honey Galleros (Omnicom)</cp:lastModifiedBy>
  <cp:revision>4</cp:revision>
  <dcterms:created xsi:type="dcterms:W3CDTF">2013-01-27T09:14:16Z</dcterms:created>
  <dcterms:modified xsi:type="dcterms:W3CDTF">2026-07-13T06:10:02Z</dcterms:modified>
  <cp:category/>
</cp:coreProperties>
</file>